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262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62626"/>
                </a:solidFill>
                <a:latin typeface="Calibri"/>
              </a:rPr>
              <a:t>FY2026 Revenue by Market Platform ($B)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FY2026 Revenue by 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6B900"/>
              </a:solidFill>
              <a:effectLst/>
            </c:spPr>
          </c:dPt>
          <c:dPt>
            <c:idx val="1"/>
            <c:bubble3D val="0"/>
            <c:spPr>
              <a:solidFill>
                <a:srgbClr val="1A1A1A"/>
              </a:solidFill>
              <a:effectLst/>
            </c:spPr>
          </c:dPt>
          <c:dPt>
            <c:idx val="2"/>
            <c:bubble3D val="0"/>
            <c:spPr>
              <a:solidFill>
                <a:srgbClr val="9BC53D"/>
              </a:solidFill>
              <a:effectLst/>
            </c:spPr>
          </c:dPt>
          <c:dPt>
            <c:idx val="3"/>
            <c:bubble3D val="0"/>
            <c:spPr>
              <a:solidFill>
                <a:srgbClr val="C9C9C9"/>
              </a:solidFill>
              <a:effectLst/>
            </c:spPr>
          </c:dPt>
          <c:dPt>
            <c:idx val="4"/>
            <c:bubble3D val="0"/>
            <c:spPr>
              <a:solidFill>
                <a:srgbClr val="E3E3E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Data Center</c:v>
                </c:pt>
                <c:pt idx="1">
                  <c:v>Gaming</c:v>
                </c:pt>
                <c:pt idx="2">
                  <c:v>Pro Visualization</c:v>
                </c:pt>
                <c:pt idx="3">
                  <c:v>Automotive</c:v>
                </c:pt>
                <c:pt idx="4">
                  <c:v>OEM &amp; 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193.7</c:v>
                </c:pt>
                <c:pt idx="1">
                  <c:v>16</c:v>
                </c:pt>
                <c:pt idx="2">
                  <c:v>3.19</c:v>
                </c:pt>
                <c:pt idx="3">
                  <c:v>2.35</c:v>
                </c:pt>
                <c:pt idx="4">
                  <c:v>0.62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262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62626"/>
                </a:solidFill>
                <a:latin typeface="Calibri"/>
              </a:rPr>
              <a:t>Revenue Growth vs. Net Margin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6B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1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6B9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1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6B9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26.91</c:v>
                </c:pt>
                <c:pt idx="1">
                  <c:v>26.97</c:v>
                </c:pt>
                <c:pt idx="2">
                  <c:v>60.92</c:v>
                </c:pt>
                <c:pt idx="3">
                  <c:v>130.5</c:v>
                </c:pt>
                <c:pt idx="4">
                  <c:v>215.9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Margin %</c:v>
                </c:pt>
              </c:strCache>
            </c:strRef>
          </c:tx>
          <c:spPr>
            <a:solidFill>
              <a:srgbClr val="76B900"/>
            </a:solidFill>
            <a:ln w="25400" cap="flat">
              <a:solidFill>
                <a:srgbClr val="76B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76B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0.363</c:v>
                </c:pt>
                <c:pt idx="1">
                  <c:v>0.162</c:v>
                </c:pt>
                <c:pt idx="2">
                  <c:v>0.489</c:v>
                </c:pt>
                <c:pt idx="3">
                  <c:v>0.558</c:v>
                </c:pt>
                <c:pt idx="4">
                  <c:v>0.556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262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62626"/>
                </a:solidFill>
                <a:latin typeface="Calibri"/>
              </a:rPr>
              <a:t>Revenue &amp; Unlevered Free Cash Flow Build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FY27E</c:v>
                  </c:pt>
                  <c:pt idx="1">
                    <c:v>FY28E</c:v>
                  </c:pt>
                  <c:pt idx="2">
                    <c:v>FY29E</c:v>
                  </c:pt>
                  <c:pt idx="3">
                    <c:v>FY30E</c:v>
                  </c:pt>
                  <c:pt idx="4">
                    <c:v>FY31E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393</c:v>
                </c:pt>
                <c:pt idx="1">
                  <c:v>463.7</c:v>
                </c:pt>
                <c:pt idx="2">
                  <c:v>538</c:v>
                </c:pt>
                <c:pt idx="3">
                  <c:v>613.3</c:v>
                </c:pt>
                <c:pt idx="4">
                  <c:v>687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Unlevered FCF ($B)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FY27E</c:v>
                  </c:pt>
                  <c:pt idx="1">
                    <c:v>FY28E</c:v>
                  </c:pt>
                  <c:pt idx="2">
                    <c:v>FY29E</c:v>
                  </c:pt>
                  <c:pt idx="3">
                    <c:v>FY30E</c:v>
                  </c:pt>
                  <c:pt idx="4">
                    <c:v>FY31E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191.6</c:v>
                </c:pt>
                <c:pt idx="1">
                  <c:v>232.2</c:v>
                </c:pt>
                <c:pt idx="2">
                  <c:v>265.9</c:v>
                </c:pt>
                <c:pt idx="3">
                  <c:v>298</c:v>
                </c:pt>
                <c:pt idx="4">
                  <c:v>327.9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005840"/>
            <a:ext cx="2926080" cy="2926080"/>
          </a:xfrm>
          <a:prstGeom prst="ellipse">
            <a:avLst/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0" y="-10058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338560" y="5120640"/>
            <a:ext cx="2377440" cy="2377440"/>
          </a:xfrm>
          <a:prstGeom prst="ellipse">
            <a:avLst/>
          </a:pr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51206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CORPORATION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Cash Flow Valuation &amp; Investment Analysis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NASDAQ: NVDA   •   Semiconductors / AI Infrastructure   •   August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6035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Parth Kaushik  |  Institutional-Quality Equity Research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09928"/>
            <a:ext cx="233172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9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~$5.1T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40864"/>
            <a:ext cx="233172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Capitalization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709928"/>
            <a:ext cx="233172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9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340864"/>
            <a:ext cx="233172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Data Center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709928"/>
            <a:ext cx="233172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9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340864"/>
            <a:ext cx="233172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Revenue Growth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1709928"/>
            <a:ext cx="233172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9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2340864"/>
            <a:ext cx="233172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Unlevered FCF Margin (TTM)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BULL CASE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is the essential infrastructure layer for the AI computing transition. 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moat (silicon + NVLink + CUDA) makes hyperscaler substitution difficult.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Extraordinary FCF generation funds continued R&amp;D dominance with minimal leverage.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20040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379476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depends on a handful of hyperscalers now building competing in-house silicon.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~$5T+, the market prices in years of continued hyper-growth — little room for error.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Export-control policy and capex “digestion” risk remain genuinely unresolved.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 (NVDA)  |  DCF VALUATION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Center Company With a Gaming Business Attached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1206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35040" y="19202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is 90% of revenue and effectively 100% of the growth story. NVIDIA increasingly sells rack-scale systems — GPU compute + NVLink networking + software — not standalone chips.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3200400"/>
            <a:ext cx="384048" cy="384048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⇑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0" y="31272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revenue has grown </a:t>
            </a:r>
            <a:pPr indent="0" marL="0">
              <a:buNone/>
            </a:pPr>
            <a:r>
              <a:rPr lang="en-US" sz="1250" b="1" dirty="0">
                <a:solidFill>
                  <a:srgbClr val="5C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~96x since FY2018</a:t>
            </a:r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Gaming, the historical core business, has grown only ~2.5x over the same period.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35040" y="3977640"/>
            <a:ext cx="384048" cy="384048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0" y="39044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compute fabric for GB200/GB300 systems drove +142% YoY networking growth within Data Center in FY2026.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35040" y="4754880"/>
            <a:ext cx="384048" cy="384048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4754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0" y="46817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of FY2026 revenue came from customers headquartered outside the U.S. — a genuine trade-policy exposure.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 (NVDA)  |  DCF VALUATION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Position &amp; Competitive Landscape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Computing Shift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GPU-based computing is displacing CPU-based computing for AI training and inference across the data center.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CUDA Moat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9260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18-year software ecosystem (CUDA, cuDNN, TensorRT, NIM) creates real developer switching costs beyond raw silicon specs.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Concentration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hyperscalers drive an outsized share of Data Center revenue — the single largest customer-risk factor.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2194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(Instinct)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24871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merchant GPU rival; improving ROCm software, still behind CUDA.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3108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Broadcom / Marvell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4015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custom ASICs for hyperscalers (Google TPU, AWS Trainium) — the “build vs. buy” threat.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4023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in-house silicon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3159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NVIDIA's largest customers are also becoming its competitors for a slice of their own workloads.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4937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domestic players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52303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Ascend and others substitute where export controls restrict NVIDIA access.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 (NVDA)  |  DCF VALUATION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Five-Year Financial History: FY2022–FY2026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00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0960" y="1709928"/>
            <a:ext cx="38404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9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3.4x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680960" y="2231136"/>
            <a:ext cx="38404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growth, FY2024–FY2026 (AI inflection)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9520" y="27889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80960" y="2898648"/>
            <a:ext cx="38404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9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71.1%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680960" y="3419856"/>
            <a:ext cx="38404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GAAP gross margin (H20 charge distorted; underlying ~75%)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39776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80960" y="4087368"/>
            <a:ext cx="38404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9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~47%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680960" y="4608576"/>
            <a:ext cx="38404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TTM unlevered FCF margin — nearly half of every revenue dollar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51663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 (+0.2% growth) is the reminder: even this business has had a near-zero-growth, margin-compressed year within the current cycle.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 (NVDA)  |  DCF VALUATION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Five-Year Forecast: FY2027E–FY2031E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600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 (BASE CASE)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589520" y="1965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89520" y="22219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+82% FY27, decelerating to +12% by FY31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2834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30906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 → 72.0% (gradual mix/competitive erosion)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3703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tax rate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39593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→ 21% (Pillar Two phase-in)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4572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NWC intensity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48280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ΔRevenue, tapering to 4% by FY31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 (NVDA)  |  DCF VALUATION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WACC: Cost of Capital Derivation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09928"/>
            <a:ext cx="23774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9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UST, Aug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709928"/>
            <a:ext cx="23774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9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2423160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Risk Premium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Damodaran implied ERP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709928"/>
            <a:ext cx="23774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9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vs. S&amp;P 500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06840" y="1709928"/>
            <a:ext cx="23774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9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06840" y="2423160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Equity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0684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CAPM: Rf + β × ERP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2918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 =  </a:t>
            </a:r>
            <a:pPr indent="0" marL="0">
              <a:buNone/>
            </a:pPr>
            <a:r>
              <a:rPr lang="en-US" sz="1800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(99.3% × 14.5%)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indent="0" marL="0">
              <a:buNone/>
            </a:pPr>
            <a:r>
              <a:rPr lang="en-US" sz="1800" dirty="0">
                <a:solidFill>
                  <a:srgbClr val="9BC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(0.7% × 4.15%)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14.4%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NVIDIA's capital structure is ~99% equity, WACC is effectively equal to cost of equity. Debt is a rounding error on a &gt;$5T balance sheet.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DEBT (FOR REFERENCE)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7091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priced a 30-year bond at UST +65bps in June 2026 (Aa1 / AA- rated) → pre-tax cost of debt ~5.25%, after-tax ~4.15%.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 (NVDA)  |  DCF VALUATION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DCF: Two Terminal Value Methods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PERPETUITY GROWTH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value per share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growth (g):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current price ($215):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−52.7%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EXIT MULTIPLE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$207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537960" y="3063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value per share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3520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EV/EBITDA: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18.0x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FY2031E EBITDA: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$450B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current price ($215):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−3.9%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2x spread matters: the perpetuity method forces one permanent growth rate; the exit multiple lets the market's own view of durability flow through. Treat the gap as the valuation range, not an error to reconcile.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 (NVDA)  |  DCF VALUATION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Valuation Moves With Key Assumptions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WACC vs. Terminal Growth (Perpetuity Method) — Implied Price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486400" cy="173736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\ 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WACC vs. Exit Multiple — Implied Price</a:t>
            </a:r>
            <a:endParaRPr lang="en-US" sz="12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5486400" cy="173736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\ Mult.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355080" y="187452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62940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ANSWER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2940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Perpetuity method: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$82–$137 across the full range — consistently below the current price of ~$215.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multiple method: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$157–$266 — comfortably spans the current price.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dominant lever versus gross margin: a ±4pt/yr growth swing moves the price ~$25–$30/share; a ±2pt margin swing moves it only ~$5–$7/share.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 (NVDA)  |  DCF VALUATION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 / Base / Bear: The Range of Reasonable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−41% vs. current price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capex decelerates faster; custom silicon erodes share; WACC 16.5%; 14.0x exit multiple.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20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$207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0" y="32461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−4% vs. current price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74904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decelerates from +82% to +12% by FY31; WACC 14.4%; 18.0x exit multiple.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20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6760" y="23317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$339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366760" y="32461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+58% vs. current price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374904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stays elevated longer (Rubin ramp); market treats NVDA as lower-risk; WACC 13.0%; 24.0x exit multiple.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scenarios require NVIDIA to become a “bad business” — the spread reflects how genuinely wide the range of reasonable outcomes is for a company growing this fast at this scale.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 (NVDA)  |  DCF VALUATION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to the Thesis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11480" cy="4114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801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Concentration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hyperscalers drive an outsized share of revenue — and are building competing silicon.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28800"/>
            <a:ext cx="411480" cy="4114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801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Controls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$4.5B H20 charge shows policy can move revenue and margin with little warning.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828800"/>
            <a:ext cx="411480" cy="4114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15400" y="1801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Erosion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2377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AMD, custom ASICs, and Chinese domestic players narrow the performance/software gap over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931920"/>
            <a:ext cx="411480" cy="4114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3904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Cyclicality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48056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depends on hyperscaler capital spending decisions, not diversified end-demand.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931920"/>
            <a:ext cx="411480" cy="4114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20640" y="3904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Concentration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48056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dependence on TSMC fabrication and a small number of HBM memory suppliers.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703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3931920"/>
            <a:ext cx="411480" cy="4114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915400" y="3904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Risk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448056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~22x forward earnings, a lot of continued growth is already priced in.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 (NVDA)  |  DCF VALUATION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822960"/>
            <a:ext cx="2560320" cy="2560320"/>
          </a:xfrm>
          <a:prstGeom prst="ellipse">
            <a:avLst/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0" y="-8229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Fairly Valued, Wide Dispersion of Outcomes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333756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$125–$339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761488"/>
            <a:ext cx="333756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valuation range (Bear–Bull)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938528"/>
            <a:ext cx="333756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$101 / $207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97680" y="2761488"/>
            <a:ext cx="333756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Perpetuity / Exit Multiple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938528"/>
            <a:ext cx="333756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~$215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955280" y="2761488"/>
            <a:ext cx="333756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trading price (Aug 2026)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3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Multiple method lands within a few percent of today's price; the Perpetuity Growth method implies meaningful downside.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3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definitively “right” — the divergence itself is the finding: ~70%+ of enterprise value in both methods sits in the terminal year, so the market's own view of NVIDIA's durability beyond FY2031 matters more than any single point estimate.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26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it for the AI infrastructure thesis, size the position for a genuinely wide range of outcomes, and revisit the growth-deceleration and customer-concentration assumptions every quarter — they are what will move this valuation the most.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/ portfolio project. Not investment advice. See workbook for full source citations.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2026-08-09T23:29:55Z</dcterms:created>
  <dcterms:modified xsi:type="dcterms:W3CDTF">2026-08-09T23:29:55Z</dcterms:modified>
</cp:coreProperties>
</file>